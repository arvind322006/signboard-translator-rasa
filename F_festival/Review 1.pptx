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</p:sldMasterIdLst>
  <p:notesMasterIdLst>
    <p:notesMasterId r:id="rId17"/>
  </p:notesMasterIdLst>
  <p:sldIdLst>
    <p:sldId id="298" r:id="rId2"/>
    <p:sldId id="368" r:id="rId3"/>
    <p:sldId id="369" r:id="rId4"/>
    <p:sldId id="405" r:id="rId5"/>
    <p:sldId id="370" r:id="rId6"/>
    <p:sldId id="417" r:id="rId7"/>
    <p:sldId id="375" r:id="rId8"/>
    <p:sldId id="373" r:id="rId9"/>
    <p:sldId id="414" r:id="rId10"/>
    <p:sldId id="374" r:id="rId11"/>
    <p:sldId id="400" r:id="rId12"/>
    <p:sldId id="403" r:id="rId13"/>
    <p:sldId id="397" r:id="rId14"/>
    <p:sldId id="319" r:id="rId15"/>
    <p:sldId id="41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8805" autoAdjust="0"/>
    <p:restoredTop sz="94660"/>
  </p:normalViewPr>
  <p:slideViewPr>
    <p:cSldViewPr snapToGrid="0">
      <p:cViewPr>
        <p:scale>
          <a:sx n="66" d="100"/>
          <a:sy n="66" d="100"/>
        </p:scale>
        <p:origin x="-1876" y="-3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45F38-05F2-4376-9E4C-DB2A58A5882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4C7B3C-ACE8-43C0-A32E-47A9F88EC9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48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7147D-9130-42AC-9696-73C504054AA4}" type="slidenum">
              <a:rPr lang="en-IN" smtClean="0"/>
              <a:pPr/>
              <a:t>1</a:t>
            </a:fld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B61BEF0D-F0BB-DE4B-95CE-6DB70DBA9567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nergy.2024.131621" TargetMode="External"/><Relationship Id="rId2" Type="http://schemas.openxmlformats.org/officeDocument/2006/relationships/hyperlink" Target="https://www.mdpi.com/1996-1073/17/16/414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hyperlink" Target="https://link.springer.com/article/10.1007/s10098-023-02606-z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9462" y="428604"/>
            <a:ext cx="8078395" cy="2286016"/>
          </a:xfrm>
        </p:spPr>
        <p:txBody>
          <a:bodyPr>
            <a:noAutofit/>
          </a:bodyPr>
          <a:lstStyle/>
          <a:p>
            <a:pPr marL="182880" algn="ctr"/>
            <a:r>
              <a:rPr lang="en-US" sz="4400" b="1" dirty="0">
                <a:latin typeface="Arial Narrow" pitchFamily="34" charset="0"/>
                <a:cs typeface="Narkisim" pitchFamily="34" charset="-79"/>
                <a:sym typeface="Times New Roman" pitchFamily="18" charset="0"/>
              </a:rPr>
              <a:t>An ML-Powered Energy Consumption Analyzer for SME Manufacturing</a:t>
            </a:r>
            <a:endParaRPr lang="en-IN" sz="4400" b="1" dirty="0">
              <a:latin typeface="Arial Narrow" pitchFamily="34" charset="0"/>
              <a:cs typeface="Narkisim" pitchFamily="34" charset="-79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42632" y="3070752"/>
            <a:ext cx="3925100" cy="2736304"/>
          </a:xfrm>
        </p:spPr>
        <p:txBody>
          <a:bodyPr>
            <a:normAutofit fontScale="92500" lnSpcReduction="20000"/>
          </a:bodyPr>
          <a:lstStyle/>
          <a:p>
            <a:pPr marL="26988" algn="ctr"/>
            <a:r>
              <a:rPr lang="en-US" altLang="zh-CN" b="1" dirty="0">
                <a:solidFill>
                  <a:srgbClr val="341108"/>
                </a:solidFill>
                <a:latin typeface="Arial Narrow" pitchFamily="34" charset="0"/>
                <a:sym typeface="Arial Narrow" pitchFamily="34" charset="0"/>
              </a:rPr>
              <a:t>Guided By</a:t>
            </a:r>
          </a:p>
          <a:p>
            <a:pPr marL="26988" algn="ctr"/>
            <a:r>
              <a:rPr lang="en-US" altLang="zh-CN" b="1" dirty="0" err="1" smtClean="0">
                <a:solidFill>
                  <a:srgbClr val="341108"/>
                </a:solidFill>
                <a:latin typeface="Arial Narrow" pitchFamily="34" charset="0"/>
                <a:sym typeface="Arial Narrow" pitchFamily="34" charset="0"/>
              </a:rPr>
              <a:t>Dr.M.SIVAKUMAR</a:t>
            </a:r>
            <a:r>
              <a:rPr lang="en-US" altLang="zh-CN" b="1" dirty="0" smtClean="0">
                <a:solidFill>
                  <a:srgbClr val="341108"/>
                </a:solidFill>
                <a:latin typeface="Arial Narrow" pitchFamily="34" charset="0"/>
                <a:sym typeface="Arial Narrow" pitchFamily="34" charset="0"/>
              </a:rPr>
              <a:t> </a:t>
            </a:r>
            <a:r>
              <a:rPr lang="en-US" altLang="zh-CN" b="1" dirty="0">
                <a:solidFill>
                  <a:srgbClr val="341108"/>
                </a:solidFill>
                <a:latin typeface="Arial Narrow" pitchFamily="34" charset="0"/>
                <a:sym typeface="Arial Narrow" pitchFamily="34" charset="0"/>
              </a:rPr>
              <a:t>, </a:t>
            </a:r>
            <a:endParaRPr lang="en-US" altLang="zh-CN" b="1" dirty="0" smtClean="0">
              <a:solidFill>
                <a:srgbClr val="341108"/>
              </a:solidFill>
              <a:latin typeface="Arial Narrow" pitchFamily="34" charset="0"/>
              <a:sym typeface="Arial Narrow" pitchFamily="34" charset="0"/>
            </a:endParaRPr>
          </a:p>
          <a:p>
            <a:pPr marL="26988" algn="ctr"/>
            <a:r>
              <a:rPr lang="en-US" altLang="zh-CN" b="1" dirty="0" smtClean="0">
                <a:solidFill>
                  <a:srgbClr val="341108"/>
                </a:solidFill>
                <a:latin typeface="Arial Narrow" pitchFamily="34" charset="0"/>
                <a:sym typeface="Arial Narrow" pitchFamily="34" charset="0"/>
              </a:rPr>
              <a:t>Assistant Professor </a:t>
            </a:r>
            <a:r>
              <a:rPr lang="en-US" altLang="zh-CN" b="1" dirty="0">
                <a:solidFill>
                  <a:srgbClr val="341108"/>
                </a:solidFill>
                <a:latin typeface="Arial Narrow" pitchFamily="34" charset="0"/>
                <a:sym typeface="Arial Narrow" pitchFamily="34" charset="0"/>
              </a:rPr>
              <a:t>,CSE,TCE </a:t>
            </a:r>
          </a:p>
          <a:p>
            <a:pPr marL="26988" algn="ctr"/>
            <a:endParaRPr lang="en-US" altLang="zh-CN" dirty="0">
              <a:solidFill>
                <a:srgbClr val="341108"/>
              </a:solidFill>
              <a:latin typeface="Arial Narrow" pitchFamily="34" charset="0"/>
              <a:sym typeface="Arial Narrow" pitchFamily="34" charset="0"/>
            </a:endParaRPr>
          </a:p>
          <a:p>
            <a:pPr marL="26988" algn="ctr"/>
            <a:r>
              <a:rPr lang="en-US" altLang="zh-CN" b="1" dirty="0">
                <a:solidFill>
                  <a:srgbClr val="341108"/>
                </a:solidFill>
                <a:latin typeface="Arial Narrow" pitchFamily="34" charset="0"/>
                <a:sym typeface="Arial Narrow" pitchFamily="34" charset="0"/>
              </a:rPr>
              <a:t>Presented </a:t>
            </a:r>
            <a:r>
              <a:rPr lang="en-US" altLang="zh-CN" b="1" dirty="0" smtClean="0">
                <a:solidFill>
                  <a:srgbClr val="341108"/>
                </a:solidFill>
                <a:latin typeface="Arial Narrow" pitchFamily="34" charset="0"/>
                <a:sym typeface="Arial Narrow" pitchFamily="34" charset="0"/>
              </a:rPr>
              <a:t>by</a:t>
            </a:r>
          </a:p>
          <a:p>
            <a:pPr marL="26988" algn="ctr">
              <a:spcBef>
                <a:spcPts val="0"/>
              </a:spcBef>
            </a:pPr>
            <a:r>
              <a:rPr lang="en-US" altLang="zh-CN" dirty="0" smtClean="0">
                <a:solidFill>
                  <a:srgbClr val="341108"/>
                </a:solidFill>
                <a:latin typeface="Arial Narrow" pitchFamily="34" charset="0"/>
                <a:sym typeface="Arial Narrow" pitchFamily="34" charset="0"/>
              </a:rPr>
              <a:t>KIRUBAKARAN S - 21078</a:t>
            </a:r>
            <a:br>
              <a:rPr lang="en-US" altLang="zh-CN" dirty="0" smtClean="0">
                <a:solidFill>
                  <a:srgbClr val="341108"/>
                </a:solidFill>
                <a:latin typeface="Arial Narrow" pitchFamily="34" charset="0"/>
                <a:sym typeface="Arial Narrow" pitchFamily="34" charset="0"/>
              </a:rPr>
            </a:br>
            <a:r>
              <a:rPr lang="en-US" altLang="zh-CN" dirty="0" smtClean="0">
                <a:solidFill>
                  <a:srgbClr val="341108"/>
                </a:solidFill>
                <a:latin typeface="Arial Narrow" pitchFamily="34" charset="0"/>
                <a:sym typeface="Arial Narrow" pitchFamily="34" charset="0"/>
              </a:rPr>
              <a:t>HARIHARAN R      - 21042</a:t>
            </a:r>
          </a:p>
          <a:p>
            <a:pPr marL="26988" algn="ctr">
              <a:spcBef>
                <a:spcPts val="0"/>
              </a:spcBef>
            </a:pPr>
            <a:r>
              <a:rPr lang="en-US" altLang="zh-CN" dirty="0" smtClean="0">
                <a:solidFill>
                  <a:srgbClr val="341108"/>
                </a:solidFill>
                <a:latin typeface="Arial Narrow" pitchFamily="34" charset="0"/>
                <a:sym typeface="Arial Narrow" pitchFamily="34" charset="0"/>
              </a:rPr>
              <a:t>ARVIND B              - 21016</a:t>
            </a:r>
            <a:endParaRPr lang="en-US" altLang="zh-CN" dirty="0">
              <a:solidFill>
                <a:srgbClr val="341108"/>
              </a:solidFill>
              <a:latin typeface="Arial Narrow" pitchFamily="34" charset="0"/>
              <a:sym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7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5616222" cy="1162050"/>
          </a:xfrm>
        </p:spPr>
        <p:txBody>
          <a:bodyPr>
            <a:normAutofit/>
          </a:bodyPr>
          <a:lstStyle/>
          <a:p>
            <a:r>
              <a:rPr lang="en-US" sz="3600" cap="none" dirty="0"/>
              <a:t>Presentation Overview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93334"/>
            <a:ext cx="8153400" cy="443283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Existing System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Proposed System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Architecture Diagram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Timeline of Proposed System Activities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>
              <a:buNone/>
            </a:pP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16778"/>
            <a:ext cx="6327423" cy="1162050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3600" cap="none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70756"/>
            <a:ext cx="8153400" cy="4455407"/>
          </a:xfrm>
        </p:spPr>
        <p:txBody>
          <a:bodyPr/>
          <a:lstStyle/>
          <a:p>
            <a:r>
              <a:rPr lang="en-US" sz="2800" dirty="0"/>
              <a:t>Energy is one of the largest expenses in manufacturing industries.</a:t>
            </a:r>
          </a:p>
          <a:p>
            <a:r>
              <a:rPr lang="en-US" sz="2800" dirty="0"/>
              <a:t>SMEs often lack the tools and infrastructure to monitor energy usage effectively.</a:t>
            </a:r>
          </a:p>
          <a:p>
            <a:r>
              <a:rPr lang="en-US" sz="2800" dirty="0"/>
              <a:t>This results in inefficiencies, higher costs, and poor forecasting.</a:t>
            </a:r>
          </a:p>
          <a:p>
            <a:r>
              <a:rPr lang="en-US" sz="2800" dirty="0"/>
              <a:t>Our project aims to build a smart tool for product-wise energy tracking and forecasting.</a:t>
            </a:r>
          </a:p>
          <a:p>
            <a:pPr algn="just"/>
            <a:endParaRPr lang="en-US" sz="17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16777"/>
            <a:ext cx="8014997" cy="731489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itchFamily="18" charset="0"/>
                <a:cs typeface="Times New Roman" pitchFamily="18" charset="0"/>
              </a:rPr>
              <a:t>Literature Survey- </a:t>
            </a:r>
            <a:r>
              <a:rPr lang="en-US" sz="3600" cap="none" dirty="0" smtClean="0">
                <a:latin typeface="Times New Roman" pitchFamily="18" charset="0"/>
                <a:cs typeface="Times New Roman" pitchFamily="18" charset="0"/>
              </a:rPr>
              <a:t>Top </a:t>
            </a:r>
            <a:r>
              <a:rPr lang="en-US" sz="3600" cap="none" dirty="0">
                <a:latin typeface="Times New Roman" pitchFamily="18" charset="0"/>
                <a:cs typeface="Times New Roman" pitchFamily="18" charset="0"/>
              </a:rPr>
              <a:t>Relevant 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40247303"/>
              </p:ext>
            </p:extLst>
          </p:nvPr>
        </p:nvGraphicFramePr>
        <p:xfrm>
          <a:off x="589635" y="1725062"/>
          <a:ext cx="8212669" cy="330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3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731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5179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207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1759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80511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Proposed</a:t>
                      </a:r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 Solution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91666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>
                          <a:latin typeface="Times New Roman" pitchFamily="18" charset="0"/>
                          <a:cs typeface="Times New Roman" pitchFamily="18" charset="0"/>
                        </a:rPr>
                        <a:t>Machine Learning for Energy Efficiency in Manufacturing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smtClean="0"/>
                        <a:t>Lack of Visibility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endParaRPr lang="en-IN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smtClean="0"/>
                        <a:t>Inefficient Processes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endParaRPr lang="en-IN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smtClean="0"/>
                        <a:t>Rising Energy Costs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endParaRPr lang="en-IN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smtClean="0"/>
                        <a:t>No Forecasting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Use Machine Learning (ML) to analyze historical energy consumption data and optimize manufacturing processes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IN" sz="1600" dirty="0" smtClean="0"/>
                        <a:t>Accurate Forecasting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endParaRPr lang="en-IN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IN" sz="1600" dirty="0" smtClean="0"/>
                        <a:t>Cost Reduction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endParaRPr lang="en-IN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IN" sz="1600" dirty="0" smtClean="0"/>
                        <a:t>Predictive Maintenance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q"/>
                      </a:pPr>
                      <a:r>
                        <a:rPr lang="en-IN" sz="1600" dirty="0" smtClean="0"/>
                        <a:t>Requires Quality Data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q"/>
                      </a:pPr>
                      <a:endParaRPr lang="en-IN" sz="1600" b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q"/>
                      </a:pPr>
                      <a:r>
                        <a:rPr lang="en-IN" sz="1600" dirty="0" smtClean="0"/>
                        <a:t>Model Training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q"/>
                      </a:pPr>
                      <a:endParaRPr lang="en-IN" sz="1600" b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q"/>
                      </a:pPr>
                      <a:r>
                        <a:rPr lang="en-IN" sz="1600" dirty="0" smtClean="0"/>
                        <a:t>Cost of Implementation</a:t>
                      </a:r>
                      <a:endParaRPr lang="en-US" sz="17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sz="3600" cap="none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33399" y="1896534"/>
            <a:ext cx="8153400" cy="4398963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build a smart software tool using machine learning that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Records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energy usage for individual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products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Analyzes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data trends and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patterns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Predicts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future consumption and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cost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Suggests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optimization paths to reduce energy waste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16777"/>
            <a:ext cx="5604933" cy="1521711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sz="3600" cap="none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cap="none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cap="none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cap="none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cap="none" dirty="0">
                <a:latin typeface="Times New Roman" pitchFamily="18" charset="0"/>
                <a:cs typeface="Times New Roman" pitchFamily="18" charset="0"/>
              </a:rPr>
            </a:br>
            <a:endParaRPr lang="en-US" sz="3200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009422"/>
            <a:ext cx="8153400" cy="4116741"/>
          </a:xfrm>
        </p:spPr>
        <p:txBody>
          <a:bodyPr/>
          <a:lstStyle/>
          <a:p>
            <a:r>
              <a:rPr lang="en-US" dirty="0"/>
              <a:t>Most SMEs lack affordable and intelligent tools to track energy consumption per product. This leads to hidden inefficiencies, unexpected costs, and no clear roadmap for optimization. An ML-powered tool is required to log, analyze, and forecast energy usage, making energy decisions more data-driven.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16778"/>
            <a:ext cx="7903030" cy="781598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itchFamily="18" charset="0"/>
                <a:cs typeface="Times New Roman" pitchFamily="18" charset="0"/>
              </a:rPr>
              <a:t>Datasets/Resources used for analysis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13688989"/>
              </p:ext>
            </p:extLst>
          </p:nvPr>
        </p:nvGraphicFramePr>
        <p:xfrm>
          <a:off x="1020277" y="1946627"/>
          <a:ext cx="7449955" cy="2519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06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8927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799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References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169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dirty="0" smtClean="0"/>
                        <a:t>Simulated SME Production Dataset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dirty="0" smtClean="0"/>
                        <a:t>Self-created / Manually collected from SMEs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9921">
                <a:tc>
                  <a:txBody>
                    <a:bodyPr/>
                    <a:lstStyle/>
                    <a:p>
                      <a:pPr algn="ctr"/>
                      <a:r>
                        <a:rPr lang="en-IN" sz="2000" baseline="0" dirty="0" smtClean="0"/>
                        <a:t> </a:t>
                      </a:r>
                      <a:r>
                        <a:rPr lang="en-IN" sz="2000" dirty="0" smtClean="0"/>
                        <a:t>CSV Upload Support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Collected from SMEs or demo data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2746">
                <a:tc>
                  <a:txBody>
                    <a:bodyPr/>
                    <a:lstStyle/>
                    <a:p>
                      <a:pPr algn="ctr" fontAlgn="b"/>
                      <a:r>
                        <a:rPr lang="en-IN" dirty="0" err="1" smtClean="0"/>
                        <a:t>IoT</a:t>
                      </a:r>
                      <a:r>
                        <a:rPr lang="en-IN" dirty="0" smtClean="0"/>
                        <a:t> Sensor Data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dirty="0" smtClean="0"/>
                        <a:t>Generated via Arduino/ESP32 sensors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643" y="-1"/>
            <a:ext cx="7587401" cy="1324947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3600" cap="none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xisting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en-US" sz="3600" cap="none" dirty="0">
                <a:latin typeface="Times New Roman" pitchFamily="18" charset="0"/>
                <a:cs typeface="Times New Roman" pitchFamily="18" charset="0"/>
              </a:rPr>
              <a:t>ystem with Limitations </a:t>
            </a:r>
            <a:br>
              <a:rPr lang="en-US" sz="3600" cap="none" dirty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198FAF8-582A-6AAC-78F8-91827A6F3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6451" y="1411705"/>
            <a:ext cx="8153400" cy="3992563"/>
          </a:xfrm>
        </p:spPr>
        <p:txBody>
          <a:bodyPr>
            <a:noAutofit/>
          </a:bodyPr>
          <a:lstStyle/>
          <a:p>
            <a:r>
              <a:rPr lang="en-US" sz="2000" dirty="0"/>
              <a:t>The reviewed works emphasize the importance of using Machine Learning (ML), </a:t>
            </a:r>
            <a:r>
              <a:rPr lang="en-US" sz="2000" dirty="0" err="1"/>
              <a:t>IoT</a:t>
            </a:r>
            <a:r>
              <a:rPr lang="en-US" sz="2000" dirty="0"/>
              <a:t>, and predictive analytics to enhance energy efficiency in manufacturing environments. Research shows that ML can optimize energy use, detect anomalies, and forecast future consumption. </a:t>
            </a:r>
            <a:r>
              <a:rPr lang="en-US" sz="2000" dirty="0" err="1"/>
              <a:t>IoT</a:t>
            </a:r>
            <a:r>
              <a:rPr lang="en-US" sz="2000" dirty="0"/>
              <a:t> integration supports automated data collection, enhancing real-time monitoring and control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 smtClean="0"/>
              <a:t>While </a:t>
            </a:r>
            <a:r>
              <a:rPr lang="en-US" sz="2000" dirty="0"/>
              <a:t>these technologies have proven effective, most existing systems are tailored for large-scale industries. They often lack affordable, user-friendly solutions that cater to the unique needs of small and medium enterprises (SMEs</a:t>
            </a:r>
            <a:r>
              <a:rPr lang="en-US" sz="2000" dirty="0" smtClean="0"/>
              <a:t>).</a:t>
            </a:r>
          </a:p>
          <a:p>
            <a:endParaRPr lang="en-US" sz="2000" dirty="0"/>
          </a:p>
          <a:p>
            <a:r>
              <a:rPr lang="en-US" sz="2000" dirty="0" smtClean="0"/>
              <a:t>The </a:t>
            </a:r>
            <a:r>
              <a:rPr lang="en-US" sz="2000" dirty="0"/>
              <a:t>studies also highlight the need for tools that provide product-level energy tracking, cost forecasting, and actionable insights, which are rarely addressed in current solutions.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5898444" cy="1162050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itchFamily="18" charset="0"/>
                <a:cs typeface="Times New Roman" pitchFamily="18" charset="0"/>
              </a:rPr>
              <a:t>Proposed System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69332" y="1900650"/>
            <a:ext cx="5173135" cy="463561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1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Approach to Solve the Problem</a:t>
            </a:r>
          </a:p>
          <a:p>
            <a:pPr marL="0" lvl="1" algn="just">
              <a:buNone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Step 1: Data Collection</a:t>
            </a: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Input product-wise energy usage (manual or CSV)</a:t>
            </a: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Capture machine, units produced, energy type &amp; amount</a:t>
            </a:r>
          </a:p>
          <a:p>
            <a:pPr marL="0" lvl="1" algn="just">
              <a:buNone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Step 2: Energy Analysis</a:t>
            </a: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Calculate per-unit energy consumption</a:t>
            </a: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Identify high-consumption products/processes</a:t>
            </a:r>
          </a:p>
          <a:p>
            <a:pPr marL="0" lvl="1" algn="just">
              <a:buNone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Step 3: Forecasting</a:t>
            </a: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Estimate total energy &amp; cost based on current trends</a:t>
            </a: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Predict monthly/annual energy expenses</a:t>
            </a:r>
          </a:p>
          <a:p>
            <a:pPr marL="0" lvl="1" algn="just">
              <a:buNone/>
            </a:pP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399" y="3343387"/>
            <a:ext cx="3598334" cy="181588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Step 4: Insights &amp; Alerts</a:t>
            </a: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Recommend energy-saving changes</a:t>
            </a: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Notify unusual spikes or inefficiencies</a:t>
            </a:r>
          </a:p>
          <a:p>
            <a:pPr marL="0" lvl="1" algn="just">
              <a:buNone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Step 5: Dashboard &amp; Reports</a:t>
            </a: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Visual graphs and exportable reports</a:t>
            </a:r>
          </a:p>
          <a:p>
            <a:pPr marL="0" lvl="1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Simple UI for SME managers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"/>
            <a:ext cx="4758267" cy="733778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A</a:t>
            </a:r>
            <a:r>
              <a:rPr lang="en-US" cap="none" dirty="0">
                <a:solidFill>
                  <a:schemeClr val="accent5"/>
                </a:solidFill>
              </a:rPr>
              <a:t>rchitecture</a:t>
            </a:r>
            <a:r>
              <a:rPr lang="en-US" dirty="0">
                <a:solidFill>
                  <a:schemeClr val="accent5"/>
                </a:solidFill>
              </a:rPr>
              <a:t>  D</a:t>
            </a:r>
            <a:r>
              <a:rPr lang="en-US" cap="none" dirty="0">
                <a:solidFill>
                  <a:schemeClr val="accent5"/>
                </a:solidFill>
              </a:rPr>
              <a:t>iagram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rot="16200000" flipH="1">
            <a:off x="2333977" y="1984021"/>
            <a:ext cx="316089" cy="56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D2656DAF-5844-4E41-AACB-B4168E4E02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07963" y="959147"/>
            <a:ext cx="4617452" cy="36200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4393932" y="5056691"/>
            <a:ext cx="4572000" cy="17543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GB" b="1" dirty="0"/>
              <a:t>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Frontend</a:t>
            </a:r>
            <a:r>
              <a:rPr lang="en-GB" dirty="0"/>
              <a:t>: React.js or Flutter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Backend</a:t>
            </a:r>
            <a:r>
              <a:rPr lang="en-GB" dirty="0"/>
              <a:t>: Node.js or Spring Boot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Database</a:t>
            </a:r>
            <a:r>
              <a:rPr lang="en-GB" dirty="0"/>
              <a:t>: MongoDB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Graphs</a:t>
            </a:r>
            <a:r>
              <a:rPr lang="en-GB" dirty="0"/>
              <a:t>: Chart.js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Hosting</a:t>
            </a:r>
            <a:r>
              <a:rPr lang="en-GB" dirty="0"/>
              <a:t>: Firebase, </a:t>
            </a:r>
            <a:r>
              <a:rPr lang="en-GB" dirty="0" err="1"/>
              <a:t>Vercel</a:t>
            </a:r>
            <a:r>
              <a:rPr lang="en-GB" dirty="0"/>
              <a:t>, or AWS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221" y="274638"/>
            <a:ext cx="8385917" cy="1143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Contributions by Individual Team Members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6598" y="2507103"/>
            <a:ext cx="7814733" cy="19389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 err="1"/>
              <a:t>Hariharan</a:t>
            </a:r>
            <a:r>
              <a:rPr lang="en-IN" sz="2400" dirty="0"/>
              <a:t> R – ML Model Development, Backend </a:t>
            </a:r>
            <a:r>
              <a:rPr lang="en-IN" sz="2400" dirty="0" smtClean="0"/>
              <a:t>Logic</a:t>
            </a:r>
          </a:p>
          <a:p>
            <a:endParaRPr lang="en-IN" sz="2400" dirty="0" smtClean="0"/>
          </a:p>
          <a:p>
            <a:r>
              <a:rPr lang="en-IN" sz="2400" dirty="0" err="1" smtClean="0"/>
              <a:t>Kirubakaran</a:t>
            </a:r>
            <a:r>
              <a:rPr lang="en-IN" sz="2400" dirty="0" smtClean="0"/>
              <a:t> S– </a:t>
            </a:r>
            <a:r>
              <a:rPr lang="en-IN" sz="2400" dirty="0"/>
              <a:t>UI Design, Frontend </a:t>
            </a:r>
            <a:r>
              <a:rPr lang="en-IN" sz="2400" dirty="0" smtClean="0"/>
              <a:t>Integration</a:t>
            </a:r>
          </a:p>
          <a:p>
            <a:endParaRPr lang="en-IN" sz="2400" dirty="0" smtClean="0"/>
          </a:p>
          <a:p>
            <a:r>
              <a:rPr lang="en-IN" sz="2400" dirty="0" smtClean="0"/>
              <a:t>Arvind B </a:t>
            </a:r>
            <a:r>
              <a:rPr lang="en-IN" sz="2400" dirty="0"/>
              <a:t>– Data Collection, Testing, Report Preparation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956" y="274638"/>
            <a:ext cx="55880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912" y="2079977"/>
            <a:ext cx="8606310" cy="2325512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Integration with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energy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meters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Extension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multi-factory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scenarios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Dynamic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pricing and carbon footprint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tracking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Mobile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 support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647968" cy="1143000"/>
          </a:xfrm>
        </p:spPr>
        <p:txBody>
          <a:bodyPr>
            <a:normAutofit/>
          </a:bodyPr>
          <a:lstStyle/>
          <a:p>
            <a:r>
              <a:rPr lang="en-US" sz="3600" dirty="0"/>
              <a:t>REFERENCES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14IS340 - Project Phase-I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719C-C4A7-43C3-ABAB-4D2F68F20795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887430" y="1754201"/>
            <a:ext cx="6177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 smtClean="0"/>
              <a:t>1. </a:t>
            </a:r>
            <a:r>
              <a:rPr lang="en-IN" sz="2400" dirty="0" smtClean="0">
                <a:hlinkClick r:id="rId2"/>
              </a:rPr>
              <a:t>https</a:t>
            </a:r>
            <a:r>
              <a:rPr lang="en-IN" sz="2400" dirty="0">
                <a:hlinkClick r:id="rId2"/>
              </a:rPr>
              <a:t>://www.mdpi.com/1996-1073/17/16/4144</a:t>
            </a:r>
            <a:endParaRPr lang="en-IN" sz="2400" dirty="0"/>
          </a:p>
        </p:txBody>
      </p:sp>
      <p:sp>
        <p:nvSpPr>
          <p:cNvPr id="8" name="Rectangle 7"/>
          <p:cNvSpPr/>
          <p:nvPr/>
        </p:nvSpPr>
        <p:spPr>
          <a:xfrm>
            <a:off x="1972389" y="2609334"/>
            <a:ext cx="60072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 smtClean="0"/>
              <a:t>2. </a:t>
            </a:r>
            <a:r>
              <a:rPr lang="en-IN" sz="2400" dirty="0" smtClean="0">
                <a:hlinkClick r:id="rId3"/>
              </a:rPr>
              <a:t>https</a:t>
            </a:r>
            <a:r>
              <a:rPr lang="en-IN" sz="2400" dirty="0">
                <a:hlinkClick r:id="rId3"/>
              </a:rPr>
              <a:t>://doi.org/10.1016/j.energy.2024.131621</a:t>
            </a:r>
            <a:endParaRPr lang="en-IN" sz="2400" dirty="0"/>
          </a:p>
        </p:txBody>
      </p:sp>
      <p:sp>
        <p:nvSpPr>
          <p:cNvPr id="9" name="AutoShape 2" descr="What is Google Scholar - Definiti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66800" y="3537635"/>
            <a:ext cx="79586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/>
              <a:t>3. </a:t>
            </a:r>
            <a:r>
              <a:rPr lang="en-IN" sz="2400" dirty="0" smtClean="0">
                <a:hlinkClick r:id="rId4"/>
              </a:rPr>
              <a:t>https</a:t>
            </a:r>
            <a:r>
              <a:rPr lang="en-IN" sz="2400" dirty="0">
                <a:hlinkClick r:id="rId4"/>
              </a:rPr>
              <a:t>://link.springer.com/article/10.1007/s10098-023-02606-z</a:t>
            </a:r>
            <a:endParaRPr lang="en-IN" sz="2400" dirty="0"/>
          </a:p>
        </p:txBody>
      </p:sp>
      <p:sp>
        <p:nvSpPr>
          <p:cNvPr id="11" name="AutoShape 4" descr="What is Google Scholar - Definition [Marketing Dictionary]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6" descr="What is Google Scholar - Definition [Marketing Dictionary]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430" y="4594993"/>
            <a:ext cx="2349500" cy="8636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381" y="4515618"/>
            <a:ext cx="1987550" cy="1022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662" y="2428868"/>
            <a:ext cx="7498080" cy="1143000"/>
          </a:xfrm>
        </p:spPr>
        <p:txBody>
          <a:bodyPr/>
          <a:lstStyle/>
          <a:p>
            <a:pPr algn="ctr"/>
            <a:r>
              <a:rPr lang="en-US" dirty="0"/>
              <a:t>Any Queries?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14IS340 - Project Phase-I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719C-C4A7-43C3-ABAB-4D2F68F20795}" type="slidenum">
              <a:rPr lang="en-IN" smtClean="0"/>
              <a:pPr/>
              <a:t>14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EF4771-AC28-675C-7726-817AEF8DA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880627-769F-C5F3-B45F-C420833C8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662" y="2428868"/>
            <a:ext cx="7498080" cy="1143000"/>
          </a:xfrm>
        </p:spPr>
        <p:txBody>
          <a:bodyPr/>
          <a:lstStyle/>
          <a:p>
            <a:pPr algn="ctr"/>
            <a:r>
              <a:rPr lang="en-US" dirty="0"/>
              <a:t>Thank You!!!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7038D78-2746-C24E-F6D8-60FBA141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14IS340 - Project Phase-I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A6CC20-5CE4-C78D-C212-2E54B961C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719C-C4A7-43C3-ABAB-4D2F68F20795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1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5707</TotalTime>
  <Words>603</Words>
  <Application>Microsoft Office PowerPoint</Application>
  <PresentationFormat>On-screen Show (4:3)</PresentationFormat>
  <Paragraphs>123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Solstice</vt:lpstr>
      <vt:lpstr>An ML-Powered Energy Consumption Analyzer for SME Manufacturing</vt:lpstr>
      <vt:lpstr>Presentation Overview</vt:lpstr>
      <vt:lpstr>Introduction</vt:lpstr>
      <vt:lpstr>Literature Survey- Top Relevant </vt:lpstr>
      <vt:lpstr>Objective</vt:lpstr>
      <vt:lpstr>Problem Statement   </vt:lpstr>
      <vt:lpstr>Datasets/Resources used for analysis</vt:lpstr>
      <vt:lpstr>    Existing System with Limitations  </vt:lpstr>
      <vt:lpstr>Proposed System</vt:lpstr>
      <vt:lpstr>Architecture  Diagram</vt:lpstr>
      <vt:lpstr>Contributions by Individual Team Members </vt:lpstr>
      <vt:lpstr>Future Work</vt:lpstr>
      <vt:lpstr>REFERENCES</vt:lpstr>
      <vt:lpstr>Any Queries?</vt:lpstr>
      <vt:lpstr>Thank You!!!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STEGO INTRUSION DETECTION SYSTEM FOR IMAGE CONVERSE</dc:title>
  <dc:creator>pc</dc:creator>
  <cp:lastModifiedBy>ARVIND</cp:lastModifiedBy>
  <cp:revision>435</cp:revision>
  <dcterms:created xsi:type="dcterms:W3CDTF">2017-03-01T13:13:02Z</dcterms:created>
  <dcterms:modified xsi:type="dcterms:W3CDTF">2025-07-28T05:40:17Z</dcterms:modified>
</cp:coreProperties>
</file>